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>
              <a:alpha val="82000"/>
            </a:srgbClr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37960" y="320040"/>
            <a:ext cx="-1097280" cy="6172200"/>
          </a:xfrm>
          <a:prstGeom prst="line">
            <a:avLst/>
          </a:prstGeom>
          <a:noFill/>
          <a:ln w="12700">
            <a:solidFill>
              <a:srgbClr val="0EA5E9">
                <a:alpha val="5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50024" y="320040"/>
            <a:ext cx="-1097280" cy="6172200"/>
          </a:xfrm>
          <a:prstGeom prst="line">
            <a:avLst/>
          </a:prstGeom>
          <a:noFill/>
          <a:ln w="12700">
            <a:solidFill>
              <a:srgbClr val="7C3AED">
                <a:alpha val="5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62088" y="320040"/>
            <a:ext cx="-1097280" cy="6172200"/>
          </a:xfrm>
          <a:prstGeom prst="line">
            <a:avLst/>
          </a:prstGeom>
          <a:noFill/>
          <a:ln w="12700">
            <a:solidFill>
              <a:srgbClr val="0EA5E9">
                <a:alpha val="5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74152" y="320040"/>
            <a:ext cx="-1097280" cy="6172200"/>
          </a:xfrm>
          <a:prstGeom prst="line">
            <a:avLst/>
          </a:prstGeom>
          <a:noFill/>
          <a:ln w="12700">
            <a:solidFill>
              <a:srgbClr val="7C3AED">
                <a:alpha val="5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86216" y="320040"/>
            <a:ext cx="-1097280" cy="6172200"/>
          </a:xfrm>
          <a:prstGeom prst="line">
            <a:avLst/>
          </a:prstGeom>
          <a:noFill/>
          <a:ln w="12700">
            <a:solidFill>
              <a:srgbClr val="0EA5E9">
                <a:alpha val="5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098280" y="320040"/>
            <a:ext cx="-1097280" cy="6172200"/>
          </a:xfrm>
          <a:prstGeom prst="line">
            <a:avLst/>
          </a:prstGeom>
          <a:noFill/>
          <a:ln w="12700">
            <a:solidFill>
              <a:srgbClr val="7C3AED">
                <a:alpha val="5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10344" y="320040"/>
            <a:ext cx="-1097280" cy="6172200"/>
          </a:xfrm>
          <a:prstGeom prst="line">
            <a:avLst/>
          </a:prstGeom>
          <a:noFill/>
          <a:ln w="12700">
            <a:solidFill>
              <a:srgbClr val="0EA5E9">
                <a:alpha val="5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1080000">
            <a:off x="7772400" y="1143000"/>
            <a:ext cx="2560320" cy="1874520"/>
          </a:xfrm>
          <a:prstGeom prst="chevron">
            <a:avLst/>
          </a:prstGeom>
          <a:solidFill>
            <a:srgbClr val="2563EB">
              <a:alpha val="95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1080000">
            <a:off x="8915400" y="2834640"/>
            <a:ext cx="2331720" cy="1700784"/>
          </a:xfrm>
          <a:prstGeom prst="chevron">
            <a:avLst/>
          </a:prstGeom>
          <a:solidFill>
            <a:srgbClr val="0F766E">
              <a:alpha val="94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6583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ĐỒ ÁN TỐT NGHIỆP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58368" y="1143000"/>
            <a:ext cx="7360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THIẾT KẾ VÀ XÂY DỰNG HỆ THỐNG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QUẢN LÝ &amp; PHÂN PHỐI MEDIA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685800" y="2770632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Dựa trên kiến trúc phân tán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94944" y="3401568"/>
            <a:ext cx="2514600" cy="0"/>
          </a:xfrm>
          <a:prstGeom prst="line">
            <a:avLst/>
          </a:prstGeom>
          <a:noFill/>
          <a:ln w="3810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73075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Sinh viên thực hiện: Phạm Nhật Anh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Lớp: 64CNTT.NB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Năm: 2026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13232" y="5074920"/>
            <a:ext cx="1115568" cy="384048"/>
          </a:xfrm>
          <a:prstGeom prst="roundRect">
            <a:avLst>
              <a:gd name="adj" fmla="val 2142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5184648"/>
            <a:ext cx="11155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Microservices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2066544" y="5074920"/>
            <a:ext cx="1115568" cy="384048"/>
          </a:xfrm>
          <a:prstGeom prst="roundRect">
            <a:avLst>
              <a:gd name="adj" fmla="val 21429"/>
            </a:avLst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66544" y="5184648"/>
            <a:ext cx="11155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Kafka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3419856" y="5074920"/>
            <a:ext cx="1115568" cy="384048"/>
          </a:xfrm>
          <a:prstGeom prst="roundRect">
            <a:avLst>
              <a:gd name="adj" fmla="val 21429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19856" y="5184648"/>
            <a:ext cx="11155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Redis/BullMQ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4773168" y="5074920"/>
            <a:ext cx="1115568" cy="384048"/>
          </a:xfrm>
          <a:prstGeom prst="roundRect">
            <a:avLst>
              <a:gd name="adj" fmla="val 21429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73168" y="5184648"/>
            <a:ext cx="11155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MinIO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6126480" y="5074920"/>
            <a:ext cx="1115568" cy="384048"/>
          </a:xfrm>
          <a:prstGeom prst="roundRect">
            <a:avLst>
              <a:gd name="adj" fmla="val 21429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0" y="5184648"/>
            <a:ext cx="11155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HLS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10716768" y="5879592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4592"/>
            <a:ext cx="1920240" cy="669340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56692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84048" y="1115568"/>
            <a:ext cx="749808" cy="0"/>
          </a:xfrm>
          <a:prstGeom prst="line">
            <a:avLst/>
          </a:prstGeom>
          <a:noFill/>
          <a:ln w="2794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 rot="16200000">
            <a:off x="384048" y="1353312"/>
            <a:ext cx="10789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84048" y="635508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Distributed Media System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2331720" y="50292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Bài toán đặt ra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2359152" y="103327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EA5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Creator Economy cần nền tảng media có khả năng mở rộng độc lập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2331720" y="1645920"/>
            <a:ext cx="2971800" cy="251460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331720" y="1645920"/>
            <a:ext cx="29718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9464" y="1847088"/>
            <a:ext cx="2496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Nội dung tăng nhanh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69464" y="2212848"/>
            <a:ext cx="24963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Mỗi ngày hệ thống phải tiếp nhận, lưu trữ và phân phối lượng lớn video từ nhà sáng tạo.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32120" y="1645920"/>
            <a:ext cx="2971800" cy="251460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532120" y="1645920"/>
            <a:ext cx="297180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9864" y="1847088"/>
            <a:ext cx="2496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Tác vụ nặng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769864" y="2212848"/>
            <a:ext cx="24963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Upload, transcoding, moderation và streaming tạo tải không đều giữa các chức năng.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732520" y="1645920"/>
            <a:ext cx="2697480" cy="251460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732520" y="1645920"/>
            <a:ext cx="2697480" cy="7315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70264" y="1847088"/>
            <a:ext cx="2221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11D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Rủi ro monolith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970264" y="2212848"/>
            <a:ext cx="22219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Một điểm nghẽn có thể kéo theo downtime toàn hệ thống và tăng chi phí vận hành.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907792" y="4846320"/>
            <a:ext cx="7818120" cy="658368"/>
          </a:xfrm>
          <a:prstGeom prst="roundRect">
            <a:avLst>
              <a:gd name="adj" fmla="val 5556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90672" y="5065776"/>
            <a:ext cx="7452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Mục tiêu: mở rộng cục bộ, chịu lỗi tốt, vẫn kiểm soát được chi phí hạ tầng.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4592"/>
            <a:ext cx="1920240" cy="669340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56692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84048" y="1115568"/>
            <a:ext cx="749808" cy="0"/>
          </a:xfrm>
          <a:prstGeom prst="line">
            <a:avLst/>
          </a:prstGeom>
          <a:noFill/>
          <a:ln w="2794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 rot="16200000">
            <a:off x="384048" y="1353312"/>
            <a:ext cx="10789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84048" y="635508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Distributed Media System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2331720" y="50292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Giải pháp: Microservices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2359152" y="103327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EA5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Phân tách theo năng lực nghiệp vụ, giao tiếp qua Gateway và event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4956048" y="1508760"/>
            <a:ext cx="2103120" cy="749808"/>
          </a:xfrm>
          <a:prstGeom prst="roundRect">
            <a:avLst>
              <a:gd name="adj" fmla="val 4878"/>
            </a:avLst>
          </a:prstGeom>
          <a:solidFill>
            <a:srgbClr val="EFF6FF"/>
          </a:solidFill>
          <a:ln w="17780">
            <a:solidFill>
              <a:srgbClr val="0B12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93208" y="165506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Gateway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102352" y="1947672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Định tuyến, auth context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4160520" y="3200400"/>
            <a:ext cx="228600" cy="-896112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headEnd type="triangl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2468880" y="2880360"/>
            <a:ext cx="1691640" cy="896112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778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06040" y="3026664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615184" y="3319272"/>
            <a:ext cx="1399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JWT, OAuth2, user state</a:t>
            </a: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6007608" y="2267712"/>
            <a:ext cx="-658368" cy="1737360"/>
          </a:xfrm>
          <a:prstGeom prst="line">
            <a:avLst/>
          </a:prstGeom>
          <a:noFill/>
          <a:ln w="15875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572000" y="4005072"/>
            <a:ext cx="1691640" cy="896112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778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415137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18304" y="4443984"/>
            <a:ext cx="1399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Channel, video metadata, HLS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6007608" y="2267712"/>
            <a:ext cx="1399032" cy="612648"/>
          </a:xfrm>
          <a:prstGeom prst="line">
            <a:avLst/>
          </a:prstGeom>
          <a:noFill/>
          <a:ln w="15875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629400" y="2880360"/>
            <a:ext cx="1691640" cy="896112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778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0" y="3026664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Processing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775704" y="3319272"/>
            <a:ext cx="1399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Worker, FFmpeg jobs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6007608" y="2267712"/>
            <a:ext cx="3456432" cy="1737360"/>
          </a:xfrm>
          <a:prstGeom prst="line">
            <a:avLst/>
          </a:prstGeom>
          <a:noFill/>
          <a:ln w="15875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686800" y="4005072"/>
            <a:ext cx="1691640" cy="896112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778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823960" y="415137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Moderation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833104" y="4443984"/>
            <a:ext cx="1399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AI review</a:t>
            </a:r>
            <a:endParaRPr lang="en-US" sz="740" dirty="0"/>
          </a:p>
        </p:txBody>
      </p:sp>
      <p:sp>
        <p:nvSpPr>
          <p:cNvPr id="30" name="Shape 28"/>
          <p:cNvSpPr/>
          <p:nvPr/>
        </p:nvSpPr>
        <p:spPr>
          <a:xfrm>
            <a:off x="6007608" y="2267712"/>
            <a:ext cx="4187952" cy="-73152"/>
          </a:xfrm>
          <a:prstGeom prst="line">
            <a:avLst/>
          </a:prstGeom>
          <a:noFill/>
          <a:ln w="15875">
            <a:solidFill>
              <a:srgbClr val="E11D48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418320" y="2194560"/>
            <a:ext cx="1691640" cy="896112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7780">
            <a:solidFill>
              <a:srgbClr val="E11D4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555480" y="2340864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11D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564624" y="2633472"/>
            <a:ext cx="1399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Coin, ledger, payout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2971800" y="5532120"/>
            <a:ext cx="7635240" cy="475488"/>
          </a:xfrm>
          <a:prstGeom prst="roundRect">
            <a:avLst>
              <a:gd name="adj" fmla="val 7692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154680" y="5687568"/>
            <a:ext cx="7269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Kafka cho Integration Events  •  Redis/BullMQ cho background jobs  •  PostgreSQL riêng theo service</a:t>
            </a:r>
            <a:endParaRPr lang="en-US" sz="8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4592"/>
            <a:ext cx="1920240" cy="669340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56692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84048" y="1115568"/>
            <a:ext cx="749808" cy="0"/>
          </a:xfrm>
          <a:prstGeom prst="line">
            <a:avLst/>
          </a:prstGeom>
          <a:noFill/>
          <a:ln w="2794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 rot="16200000">
            <a:off x="384048" y="1353312"/>
            <a:ext cx="10789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STACK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84048" y="635508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Distributed Media System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2331720" y="50292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Nền tảng công nghệ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2359152" y="103327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EA5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Mỗi công nghệ gắn với một vai trò vận hành cụ thể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2514600" y="1691640"/>
            <a:ext cx="1874520" cy="960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15768" y="18562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11D4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NestJS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679192" y="2258568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7480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 TypeScript</a:t>
            </a:r>
            <a:endParaRPr lang="en-US" sz="770" dirty="0"/>
          </a:p>
        </p:txBody>
      </p:sp>
      <p:sp>
        <p:nvSpPr>
          <p:cNvPr id="14" name="Shape 12"/>
          <p:cNvSpPr/>
          <p:nvPr/>
        </p:nvSpPr>
        <p:spPr>
          <a:xfrm>
            <a:off x="4663440" y="1691640"/>
            <a:ext cx="1874520" cy="960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64608" y="18562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Next.js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828032" y="2258568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7480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</a:t>
            </a:r>
            <a:endParaRPr lang="en-US" sz="770" dirty="0"/>
          </a:p>
        </p:txBody>
      </p:sp>
      <p:sp>
        <p:nvSpPr>
          <p:cNvPr id="17" name="Shape 15"/>
          <p:cNvSpPr/>
          <p:nvPr/>
        </p:nvSpPr>
        <p:spPr>
          <a:xfrm>
            <a:off x="6812280" y="1691640"/>
            <a:ext cx="1874520" cy="960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13448" y="18562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Docker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976872" y="2258568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7480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</a:t>
            </a:r>
            <a:endParaRPr lang="en-US" sz="770" dirty="0"/>
          </a:p>
        </p:txBody>
      </p:sp>
      <p:sp>
        <p:nvSpPr>
          <p:cNvPr id="20" name="Shape 18"/>
          <p:cNvSpPr/>
          <p:nvPr/>
        </p:nvSpPr>
        <p:spPr>
          <a:xfrm>
            <a:off x="8961120" y="1691640"/>
            <a:ext cx="1874520" cy="960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62288" y="18562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MinIO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125712" y="2258568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7480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 Storage</a:t>
            </a:r>
            <a:endParaRPr lang="en-US" sz="770" dirty="0"/>
          </a:p>
        </p:txBody>
      </p:sp>
      <p:sp>
        <p:nvSpPr>
          <p:cNvPr id="23" name="Shape 21"/>
          <p:cNvSpPr/>
          <p:nvPr/>
        </p:nvSpPr>
        <p:spPr>
          <a:xfrm>
            <a:off x="2514600" y="3154680"/>
            <a:ext cx="2377440" cy="141732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514600" y="3154680"/>
            <a:ext cx="237744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52344" y="3355848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752344" y="3721608"/>
            <a:ext cx="1901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Mỗi service sở hữu database độc lập để giảm coupling dữ liệu.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166360" y="3154680"/>
            <a:ext cx="2377440" cy="141732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166360" y="3154680"/>
            <a:ext cx="237744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04104" y="3355848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Redis/BullMQ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04104" y="3721608"/>
            <a:ext cx="1901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Điều phối background jobs cho xử lý video.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818120" y="3154680"/>
            <a:ext cx="2377440" cy="141732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818120" y="3154680"/>
            <a:ext cx="237744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55864" y="3355848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Kafka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055864" y="3721608"/>
            <a:ext cx="1901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Phát Integration Events giữa các services.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0469880" y="3154680"/>
            <a:ext cx="91440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10469880" y="3154680"/>
            <a:ext cx="914400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707624" y="3355848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707624" y="3721608"/>
            <a:ext cx="438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 + Local.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4592"/>
            <a:ext cx="1920240" cy="669340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56692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84048" y="1115568"/>
            <a:ext cx="749808" cy="0"/>
          </a:xfrm>
          <a:prstGeom prst="line">
            <a:avLst/>
          </a:prstGeom>
          <a:noFill/>
          <a:ln w="2794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 rot="16200000">
            <a:off x="384048" y="1353312"/>
            <a:ext cx="10789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84048" y="635508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Distributed Media System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2331720" y="50292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Luồng xử lý Media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2359152" y="103327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EA5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Tách upload khỏi xử lý nặng bằng hàng đợi bất đồng bộ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2331720" y="2148840"/>
            <a:ext cx="1417320" cy="987552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778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229514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Upload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478024" y="2587752"/>
            <a:ext cx="1124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Multipart video gốc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3776472" y="2651760"/>
            <a:ext cx="310896" cy="0"/>
          </a:xfrm>
          <a:prstGeom prst="line">
            <a:avLst/>
          </a:prstGeom>
          <a:noFill/>
          <a:ln w="16510">
            <a:solidFill>
              <a:srgbClr val="748094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114800" y="2148840"/>
            <a:ext cx="1417320" cy="987552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778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51960" y="229514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MinIO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261104" y="2587752"/>
            <a:ext cx="1124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Lưu object gốc</a:t>
            </a: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5559552" y="2651760"/>
            <a:ext cx="310896" cy="0"/>
          </a:xfrm>
          <a:prstGeom prst="line">
            <a:avLst/>
          </a:prstGeom>
          <a:noFill/>
          <a:ln w="16510">
            <a:solidFill>
              <a:srgbClr val="748094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897880" y="2148840"/>
            <a:ext cx="1417320" cy="987552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778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0" y="229514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BullMQ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044184" y="2587752"/>
            <a:ext cx="1124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Đưa job vào worker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7342632" y="2651760"/>
            <a:ext cx="310896" cy="0"/>
          </a:xfrm>
          <a:prstGeom prst="line">
            <a:avLst/>
          </a:prstGeom>
          <a:noFill/>
          <a:ln w="16510">
            <a:solidFill>
              <a:srgbClr val="748094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680960" y="2148840"/>
            <a:ext cx="1417320" cy="987552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7780">
            <a:solidFill>
              <a:srgbClr val="E11D4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18120" y="229514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11D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FFmpeg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827264" y="2587752"/>
            <a:ext cx="1124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Transcode thành HLS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9125712" y="2651760"/>
            <a:ext cx="310896" cy="0"/>
          </a:xfrm>
          <a:prstGeom prst="line">
            <a:avLst/>
          </a:prstGeom>
          <a:noFill/>
          <a:ln w="16510">
            <a:solidFill>
              <a:srgbClr val="74809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464040" y="2148840"/>
            <a:ext cx="1417320" cy="987552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778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0" y="229514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Viewer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610344" y="2587752"/>
            <a:ext cx="1124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Stream từng segment</a:t>
            </a:r>
            <a:endParaRPr lang="en-US" sz="740" dirty="0"/>
          </a:p>
        </p:txBody>
      </p:sp>
      <p:sp>
        <p:nvSpPr>
          <p:cNvPr id="30" name="Shape 28"/>
          <p:cNvSpPr/>
          <p:nvPr/>
        </p:nvSpPr>
        <p:spPr>
          <a:xfrm>
            <a:off x="2880360" y="4251960"/>
            <a:ext cx="7818120" cy="10515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880360" y="4251960"/>
            <a:ext cx="7818120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18104" y="4453128"/>
            <a:ext cx="7342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Kết quả trải nghiệm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118104" y="4818888"/>
            <a:ext cx="7342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Người xem không cần đợi tải toàn bộ file lớn; hệ thống có thể tăng worker xử lý video độc lập với phần API.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4592"/>
            <a:ext cx="1920240" cy="669340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56692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84048" y="1115568"/>
            <a:ext cx="749808" cy="0"/>
          </a:xfrm>
          <a:prstGeom prst="line">
            <a:avLst/>
          </a:prstGeom>
          <a:noFill/>
          <a:ln w="2794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 rot="16200000">
            <a:off x="384048" y="1353312"/>
            <a:ext cx="10789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84048" y="635508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Distributed Media System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2331720" y="50292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Tích hợp trí tuệ nhân tạo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2359152" y="103327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EA5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AI: dùng cloud cho sáng tạo, local cho kiểm duyệt nhạy cảm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2514600" y="1645920"/>
            <a:ext cx="3977640" cy="3154680"/>
          </a:xfrm>
          <a:prstGeom prst="roundRect">
            <a:avLst>
              <a:gd name="adj" fmla="val 1159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14600" y="1645920"/>
            <a:ext cx="397764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52344" y="1847088"/>
            <a:ext cx="3502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 AI - ZAI Copilot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52344" y="2212848"/>
            <a:ext cx="35021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Tự động gợi ý tiêu đề và mô tả video cho nhà sáng tạo thông qua API.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03720" y="1645920"/>
            <a:ext cx="3977640" cy="3154680"/>
          </a:xfrm>
          <a:prstGeom prst="roundRect">
            <a:avLst>
              <a:gd name="adj" fmla="val 1159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903720" y="1645920"/>
            <a:ext cx="397764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41464" y="1847088"/>
            <a:ext cx="3502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AI - Moderation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141464" y="2212848"/>
            <a:ext cx="35021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Cắt frame, phân tích NSFW nội bộ trước khi cho phép xuất bản video.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0" y="5230368"/>
            <a:ext cx="6217920" cy="475488"/>
          </a:xfrm>
          <a:prstGeom prst="roundRect">
            <a:avLst>
              <a:gd name="adj" fmla="val 7692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22192" y="5394960"/>
            <a:ext cx="5870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Ưu điểm: bảo vệ quyền riêng tư video gốc và tối ưu chi phí hạ tầng.</a:t>
            </a:r>
            <a:endParaRPr lang="en-US" sz="93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4592"/>
            <a:ext cx="1920240" cy="669340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56692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07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84048" y="1115568"/>
            <a:ext cx="749808" cy="0"/>
          </a:xfrm>
          <a:prstGeom prst="line">
            <a:avLst/>
          </a:prstGeom>
          <a:noFill/>
          <a:ln w="2794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 rot="16200000">
            <a:off x="384048" y="1353312"/>
            <a:ext cx="10789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84048" y="635508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Distributed Media System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2331720" y="50292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Cơ chế kinh tế ảo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2359152" y="103327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EA5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Tách tiền thật khỏi giao dịch nội bộ để giảm rủi ro và tăng kiểm soát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2697480" y="1828800"/>
            <a:ext cx="1664208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34640" y="1975104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PayOS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843784" y="226771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Nạp/rút tiền thật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4389120" y="2286000"/>
            <a:ext cx="365760" cy="0"/>
          </a:xfrm>
          <a:prstGeom prst="line">
            <a:avLst/>
          </a:prstGeom>
          <a:noFill/>
          <a:ln w="19050">
            <a:solidFill>
              <a:srgbClr val="748094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782312" y="1828800"/>
            <a:ext cx="1664208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9472" y="1975104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Coin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28616" y="226771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Đơn vị nội bộ</a:t>
            </a: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6473952" y="2286000"/>
            <a:ext cx="365760" cy="0"/>
          </a:xfrm>
          <a:prstGeom prst="line">
            <a:avLst/>
          </a:prstGeom>
          <a:noFill/>
          <a:ln w="19050">
            <a:solidFill>
              <a:srgbClr val="748094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867144" y="1828800"/>
            <a:ext cx="1664208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0B12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04304" y="1975104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Ledger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013448" y="226771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Double-entry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8558784" y="2286000"/>
            <a:ext cx="365760" cy="0"/>
          </a:xfrm>
          <a:prstGeom prst="line">
            <a:avLst/>
          </a:prstGeom>
          <a:noFill/>
          <a:ln w="19050">
            <a:solidFill>
              <a:srgbClr val="748094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951976" y="1828800"/>
            <a:ext cx="1664208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89136" y="1975104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Creator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098280" y="226771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Payout request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2971800" y="3767328"/>
            <a:ext cx="7498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Tiền pháp định chỉ xuất hiện ở hai điểm: nạp vào và rút ra.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Mọi tương tác trong hệ thống dùng Coin nội bộ.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Sổ cái kép giúp truy vết và tránh sai lệch tài sản.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4592"/>
            <a:ext cx="1920240" cy="669340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56692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08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84048" y="1115568"/>
            <a:ext cx="749808" cy="0"/>
          </a:xfrm>
          <a:prstGeom prst="line">
            <a:avLst/>
          </a:prstGeom>
          <a:noFill/>
          <a:ln w="2794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 rot="16200000">
            <a:off x="384048" y="1353312"/>
            <a:ext cx="10789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84048" y="635508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Distributed Media System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2331720" y="50292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Đồng bộ dữ liệu phân tán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2359152" y="103327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EA5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Event-driven giúp các service phản ứng mà không gọi API trực tiếp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2468880" y="2240280"/>
            <a:ext cx="1645920" cy="87782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778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238658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615184" y="2679192"/>
            <a:ext cx="1353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khóa user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4617720" y="2240280"/>
            <a:ext cx="1645920" cy="87782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7780">
            <a:solidFill>
              <a:srgbClr val="0B12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238658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Kafka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64024" y="2679192"/>
            <a:ext cx="1353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user.banned</a:t>
            </a:r>
            <a:endParaRPr lang="en-US" sz="740" dirty="0"/>
          </a:p>
        </p:txBody>
      </p:sp>
      <p:sp>
        <p:nvSpPr>
          <p:cNvPr id="17" name="Shape 15"/>
          <p:cNvSpPr/>
          <p:nvPr/>
        </p:nvSpPr>
        <p:spPr>
          <a:xfrm>
            <a:off x="6812280" y="1600200"/>
            <a:ext cx="1737360" cy="87782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778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0" y="174650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958584" y="2039112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Đóng băng ví</a:t>
            </a:r>
            <a:endParaRPr lang="en-US" sz="740" dirty="0"/>
          </a:p>
        </p:txBody>
      </p:sp>
      <p:sp>
        <p:nvSpPr>
          <p:cNvPr id="20" name="Shape 18"/>
          <p:cNvSpPr/>
          <p:nvPr/>
        </p:nvSpPr>
        <p:spPr>
          <a:xfrm>
            <a:off x="6812280" y="2971800"/>
            <a:ext cx="1737360" cy="87782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778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0" y="311810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958584" y="3410712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Ẩn toàn bộ video</a:t>
            </a:r>
            <a:endParaRPr lang="en-US" sz="740" dirty="0"/>
          </a:p>
        </p:txBody>
      </p:sp>
      <p:sp>
        <p:nvSpPr>
          <p:cNvPr id="23" name="Shape 21"/>
          <p:cNvSpPr/>
          <p:nvPr/>
        </p:nvSpPr>
        <p:spPr>
          <a:xfrm>
            <a:off x="9144000" y="2240280"/>
            <a:ext cx="1664208" cy="87782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778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81160" y="2386584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290304" y="267919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Nhất quán cuối cùng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4133088" y="2670048"/>
            <a:ext cx="457200" cy="0"/>
          </a:xfrm>
          <a:prstGeom prst="line">
            <a:avLst/>
          </a:prstGeom>
          <a:noFill/>
          <a:ln w="19050">
            <a:solidFill>
              <a:srgbClr val="74809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291072" y="2670048"/>
            <a:ext cx="493776" cy="-658368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291072" y="2670048"/>
            <a:ext cx="493776" cy="73152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577072" y="2029968"/>
            <a:ext cx="539496" cy="45720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577072" y="3401568"/>
            <a:ext cx="539496" cy="-54864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3063240" y="4892040"/>
            <a:ext cx="726948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063240" y="4892040"/>
            <a:ext cx="7269480" cy="7315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00984" y="5093208"/>
            <a:ext cx="6793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E11D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Thông điệp chính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300984" y="5458968"/>
            <a:ext cx="6793992" cy="-27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Idempotency theo eventId giúp consumer xử lý an toàn khi event bị gửi lại.</a:t>
            </a:r>
            <a:endParaRPr lang="en-US" sz="9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4592"/>
            <a:ext cx="1920240" cy="669340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56692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84048" y="1115568"/>
            <a:ext cx="749808" cy="0"/>
          </a:xfrm>
          <a:prstGeom prst="line">
            <a:avLst/>
          </a:prstGeom>
          <a:noFill/>
          <a:ln w="2794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 rot="16200000">
            <a:off x="384048" y="1353312"/>
            <a:ext cx="10789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84048" y="635508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Distributed Media System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2331720" y="50292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Định danh &amp; phân quyền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2359152" y="103327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EA5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 nhóm người dùng rõ ràng, được bảo vệ bằng JWT/OAuth2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2514600" y="1664208"/>
            <a:ext cx="2560320" cy="292608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14600" y="1664208"/>
            <a:ext cx="256032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52344" y="1865376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52344" y="2231136"/>
            <a:ext cx="208483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Xem HLS, nạp Coin, mua hội viên, mở khóa nội dung.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0" y="1664208"/>
            <a:ext cx="2560320" cy="292608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0" y="1664208"/>
            <a:ext cx="256032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24144" y="1865376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Creator Studio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724144" y="2231136"/>
            <a:ext cx="208483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Tải video, quản lý kênh, xem doanh thu, yêu cầu rút tiền.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458200" y="1664208"/>
            <a:ext cx="2560320" cy="292608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458200" y="1664208"/>
            <a:ext cx="2560320" cy="7315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95944" y="1865376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11D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695944" y="2231136"/>
            <a:ext cx="208483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Quản lý danh mục, duyệt payout, khóa/mở tài khoản vi phạm.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703320" y="5257800"/>
            <a:ext cx="6080760" cy="438912"/>
          </a:xfrm>
          <a:prstGeom prst="roundRect">
            <a:avLst>
              <a:gd name="adj" fmla="val 8333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58768" y="5404104"/>
            <a:ext cx="5760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Gateway truyền user context xuống service bằng header nội bộ.</a:t>
            </a:r>
            <a:endParaRPr lang="en-US" sz="9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4592"/>
            <a:ext cx="1920240" cy="669340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56692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84048" y="1115568"/>
            <a:ext cx="749808" cy="0"/>
          </a:xfrm>
          <a:prstGeom prst="line">
            <a:avLst/>
          </a:prstGeom>
          <a:noFill/>
          <a:ln w="2794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 rot="16200000">
            <a:off x="384048" y="1353312"/>
            <a:ext cx="10789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84048" y="635508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Distributed Media System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2331720" y="50292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Giao diện cốt lõi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2359152" y="103327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EA5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Hai màn hình nên chèn ảnh thật sau khi quay demo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2468880" y="1600200"/>
            <a:ext cx="4069080" cy="3703320"/>
          </a:xfrm>
          <a:prstGeom prst="roundRect">
            <a:avLst>
              <a:gd name="adj" fmla="val 988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68880" y="1600200"/>
            <a:ext cx="406908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1773936"/>
            <a:ext cx="3703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Xem video HLS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24912" y="2350008"/>
            <a:ext cx="3557016" cy="26060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71800" y="3406140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i="1" dirty="0">
                <a:solidFill>
                  <a:srgbClr val="7480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Ảnh màn hình video player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6903720" y="1600200"/>
            <a:ext cx="4069080" cy="3703320"/>
          </a:xfrm>
          <a:prstGeom prst="roundRect">
            <a:avLst>
              <a:gd name="adj" fmla="val 988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03720" y="1600200"/>
            <a:ext cx="4069080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86600" y="1773936"/>
            <a:ext cx="3703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Creator Studio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159752" y="2350008"/>
            <a:ext cx="3557016" cy="26060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06640" y="3406140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i="1" dirty="0">
                <a:solidFill>
                  <a:srgbClr val="7480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Ảnh màn hình upload video</a:t>
            </a:r>
            <a:endParaRPr lang="en-US" sz="10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4592"/>
            <a:ext cx="1920240" cy="669340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56692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84048" y="1115568"/>
            <a:ext cx="749808" cy="0"/>
          </a:xfrm>
          <a:prstGeom prst="line">
            <a:avLst/>
          </a:prstGeom>
          <a:noFill/>
          <a:ln w="2794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 rot="16200000">
            <a:off x="384048" y="1353312"/>
            <a:ext cx="10789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84048" y="635508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Distributed Media System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2331720" y="50292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Quản trị &amp; tài chính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2359152" y="103327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EA5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Minh họa rõ hai luồng quan trọng: nạp tiền và vận hành admin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2468880" y="1600200"/>
            <a:ext cx="4069080" cy="3703320"/>
          </a:xfrm>
          <a:prstGeom prst="roundRect">
            <a:avLst>
              <a:gd name="adj" fmla="val 988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68880" y="1600200"/>
            <a:ext cx="4069080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1773936"/>
            <a:ext cx="3703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QR PayOS nạp tiền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24912" y="2350008"/>
            <a:ext cx="3557016" cy="26060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71800" y="3406140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i="1" dirty="0">
                <a:solidFill>
                  <a:srgbClr val="7480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Ảnh màn hình QR payment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6903720" y="1600200"/>
            <a:ext cx="4069080" cy="3703320"/>
          </a:xfrm>
          <a:prstGeom prst="roundRect">
            <a:avLst>
              <a:gd name="adj" fmla="val 988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03720" y="1600200"/>
            <a:ext cx="4069080" cy="50292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86600" y="1773936"/>
            <a:ext cx="3703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quản lý ví/người dùng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159752" y="2350008"/>
            <a:ext cx="3557016" cy="26060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06640" y="3406140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i="1" dirty="0">
                <a:solidFill>
                  <a:srgbClr val="7480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Ảnh màn hình admin dashboard</a:t>
            </a:r>
            <a:endParaRPr lang="en-US" sz="10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4592"/>
            <a:ext cx="1920240" cy="669340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56692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84048" y="1115568"/>
            <a:ext cx="749808" cy="0"/>
          </a:xfrm>
          <a:prstGeom prst="line">
            <a:avLst/>
          </a:prstGeom>
          <a:noFill/>
          <a:ln w="2794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 rot="16200000">
            <a:off x="384048" y="1353312"/>
            <a:ext cx="10789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WRAP-UP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84048" y="635508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Distributed Media System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2331720" y="50292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Kết luận &amp; rút kinh nghiệm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2359152" y="103327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EA5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Tóm tắt giá trị kỹ thuật của hệ thống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2697480" y="1691640"/>
            <a:ext cx="8366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Hoàn thiện hệ thống phân phối nội dung số theo hướng độc lập service và chịu lỗi tốt.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Xử lý media bất đồng bộ với MinIO, BullMQ, FFmpeg và HLS.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Đồng bộ dữ liệu phân tán bằng event để giảm phụ thuộc giữa services.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Nâng cao kỹ năng debug xuyên suốt container, hàng đợi và luồng sự kiện.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2788920" y="4315968"/>
            <a:ext cx="7818120" cy="0"/>
          </a:xfrm>
          <a:prstGeom prst="line">
            <a:avLst/>
          </a:prstGeom>
          <a:noFill/>
          <a:ln w="15240">
            <a:solidFill>
              <a:srgbClr val="DDE4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23160" y="4736592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XIN TRÂN TRỌNG CẢM ƠN HỘI ĐỒNG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2423160" y="5358384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Mời quý thầy cô đặt câu hỏi.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Distributed Media System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Thiết kế và xây dựng hệ thống quản lý và phân phối media</dc:title>
  <dc:subject>Đồ án tốt nghiệp</dc:subject>
  <dc:creator>Codex</dc:creator>
  <cp:lastModifiedBy>Codex</cp:lastModifiedBy>
  <cp:revision>1</cp:revision>
  <dcterms:created xsi:type="dcterms:W3CDTF">2026-07-05T03:34:12Z</dcterms:created>
  <dcterms:modified xsi:type="dcterms:W3CDTF">2026-07-05T03:34:12Z</dcterms:modified>
</cp:coreProperties>
</file>